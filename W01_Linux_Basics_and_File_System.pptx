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6"/>
    <p:sldId id="263" r:id="rId5"/>
    <p:sldId id="264" r:id="rId4"/>
    <p:sldId id="265" r:id="rId3"/>
    <p:sldId id="266" r:id="rId2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1.xml"/><Relationship Id="rId3" Type="http://schemas.openxmlformats.org/officeDocument/2006/relationships/slide" Target="slides/slide10.xml"/><Relationship Id="rId4" Type="http://schemas.openxmlformats.org/officeDocument/2006/relationships/slide" Target="slides/slide9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9273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4559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mailto:m.niazi@dmuk.edu.kz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14400"/>
            <a:ext cx="2212848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346704"/>
            <a:ext cx="1554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LSA · LINUX SYSTEM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4023360"/>
            <a:ext cx="14996159" cy="2139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400" b="0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Linux Basics and the File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6483096"/>
            <a:ext cx="1719072" cy="91440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6784848"/>
            <a:ext cx="15544800" cy="160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550" b="1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Muhammad Abdullah Niazi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550" b="1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Email: </a:t>
            </a:r>
            <a:r>
              <a:rPr sz="2550" b="1" i="0">
                <a:solidFill>
                  <a:srgbClr val="4A4A4A"/>
                </a:solidFill>
                <a:latin typeface="Calibri"/>
                <a:ea typeface="Calibri"/>
                <a:cs typeface="Calibri"/>
                <a:hlinkClick r:id="rId3"/>
              </a:rPr>
              <a:t>m.niazi@dmuk.edu.kz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550" b="1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Week 1 </a:t>
            </a:r>
            <a:r>
              <a:rPr sz="255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· Lecture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0"/>
            <a:ext cx="18288000" cy="228600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Learning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76272"/>
            <a:ext cx="777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3664" y="2231136"/>
            <a:ext cx="15361920" cy="5145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Explain what Linux is and describe its layered architecture.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26664"/>
            <a:ext cx="777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83664" y="3081528"/>
            <a:ext cx="15361920" cy="5145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Compare popular distributions and distinguish Linux from Unix.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877056"/>
            <a:ext cx="777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3664" y="3931920"/>
            <a:ext cx="15361920" cy="5145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Describe the Filesystem Hierarchy Standard and Linux file types.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27448"/>
            <a:ext cx="777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4782312"/>
            <a:ext cx="15361920" cy="5145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Navigate the file system confidently using absolute and relative paths.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Session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7680960" cy="6766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Introduction to Linux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Installing Linux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Linux distributions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Linux architecture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Linux vs Unix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240280"/>
            <a:ext cx="7680960" cy="6766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The Linux file system and file types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File Hierarchy Structure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Directory structure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File system navigation commands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Absolute and relative pathnames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10E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0175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 i="0" spc="300">
                <a:solidFill>
                  <a:srgbClr val="F2C9D2"/>
                </a:solidFill>
                <a:latin typeface="Arial Black"/>
                <a:ea typeface="Arial Black"/>
                <a:cs typeface="Arial Black"/>
              </a:rPr>
              <a:t>PART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739896"/>
            <a:ext cx="1275588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6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Understanding Linux Basics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5925312"/>
            <a:ext cx="2093976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6245351"/>
            <a:ext cx="941832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Linux is, where it runs, and how it is built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What is Linux?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" y="2231136"/>
            <a:ext cx="54864" cy="168071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08176" y="2212848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A free, open-source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2749804"/>
            <a:ext cx="7534656" cy="12077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Created by Linus Torvalds in 1991 and released under the GNU GPL, so anyone can study, change and share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9354312" y="2231136"/>
            <a:ext cx="54864" cy="168071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928" y="2212848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Kernel + GNU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0928" y="2749804"/>
            <a:ext cx="7534656" cy="12077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Strictly, “Linux” is the kernel. A full system adds GNU utilities, a shell, libraries and applications.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4460494"/>
            <a:ext cx="54864" cy="168071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8176" y="4442206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Multi-user, multitasking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4979161"/>
            <a:ext cx="7534656" cy="12077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Many users and processes run at once, each isolated by permissions and the kernel scheduler.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54312" y="4460494"/>
            <a:ext cx="54864" cy="168071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0928" y="4442206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Runs almost everywhere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0928" y="4979161"/>
            <a:ext cx="7534656" cy="12077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Web servers, cloud VMs, Android phones, routers, cars and every one of the world’s top 500 supercomputers.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Linux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" y="2240280"/>
            <a:ext cx="7863840" cy="156591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40280"/>
            <a:ext cx="7315200" cy="15659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600" b="0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Applications &amp; Utilities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Browsers, editors, ls, cp, web servers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943350"/>
            <a:ext cx="7863840" cy="1565910"/>
          </a:xfrm>
          <a:prstGeom prst="rect">
            <a:avLst/>
          </a:prstGeom>
          <a:solidFill>
            <a:srgbClr val="F2C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943350"/>
            <a:ext cx="7315200" cy="15659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600" b="0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Shell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Interprets your commands (bash, zsh)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5646420"/>
            <a:ext cx="7863840" cy="1565910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646420"/>
            <a:ext cx="7315200" cy="15659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600" b="0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Kernel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 i="0">
                <a:solidFill>
                  <a:srgbClr val="F2C9D2"/>
                </a:solidFill>
                <a:latin typeface="Calibri"/>
                <a:ea typeface="Calibri"/>
                <a:cs typeface="Calibri"/>
              </a:rPr>
              <a:t>Process, memory, file and device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7349490"/>
            <a:ext cx="7863840" cy="15659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7349490"/>
            <a:ext cx="7315200" cy="15659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600" b="0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Hardware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 i="0">
                <a:solidFill>
                  <a:srgbClr val="DCDCDC"/>
                </a:solidFill>
                <a:latin typeface="Calibri"/>
                <a:ea typeface="Calibri"/>
                <a:cs typeface="Calibri"/>
              </a:rPr>
              <a:t>CPU, RAM, disks, network cards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240280"/>
            <a:ext cx="7635240" cy="6766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User space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Applications and the shell run with limited privileges and must ask the kernel for resources.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System calls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The bridge between user space and the kernel: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open()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read()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fork()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execve()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Kernel space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Runs with full hardware access. Device drivers live here as built-in code or loadable modules.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Linux Distributions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94560"/>
            <a:ext cx="16184880" cy="472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A distribution (distro) bundles the Linux kernel with tools, a package manager and defaults.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51560" y="2895600"/>
          <a:ext cx="16194022" cy="49072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782545"/>
                <a:gridCol w="2600500"/>
                <a:gridCol w="3309727"/>
                <a:gridCol w="6501250"/>
              </a:tblGrid>
              <a:tr h="64008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Distribution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Family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Package tool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Typical use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111"/>
                          </a:solidFill>
                          <a:latin typeface="Calibri"/>
                        </a:rPr>
                        <a:t>Ubuntu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Debian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apt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Desktops, cloud servers, beginners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111"/>
                          </a:solidFill>
                          <a:latin typeface="Calibri"/>
                        </a:rPr>
                        <a:t>Debian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Debian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apt / dpkg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Stable servers, base for many distros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111"/>
                          </a:solidFill>
                          <a:latin typeface="Calibri"/>
                        </a:rPr>
                        <a:t>Fedora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Red Hat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dnf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Latest features, developer desktops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111"/>
                          </a:solidFill>
                          <a:latin typeface="Calibri"/>
                        </a:rPr>
                        <a:t>RHEL / Rocky / AlmaLinux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Red Hat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dnf (yum on older)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Enterprise servers with long support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111"/>
                          </a:solidFill>
                          <a:latin typeface="Calibri"/>
                        </a:rPr>
                        <a:t>CentOS Stream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Red Hat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dnf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Upstream preview of the next RHEL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111"/>
                          </a:solidFill>
                          <a:latin typeface="Calibri"/>
                        </a:rPr>
                        <a:t>Arch Linux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Independent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pacman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Rolling release, do-it-yourself setup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111"/>
                          </a:solidFill>
                          <a:latin typeface="Calibri"/>
                        </a:rPr>
                        <a:t>Kali Linux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Debian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apt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Penetration testing and security labs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Installing Linux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76272"/>
            <a:ext cx="777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3664" y="2231136"/>
            <a:ext cx="15361920" cy="4907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Choose a method:</a:t>
            </a:r>
            <a:r>
              <a:rPr sz="2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virtual machine (VirtualBox/VMware), dual boot, WSL on Windows, or a cloud VM.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26664"/>
            <a:ext cx="777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83664" y="3081528"/>
            <a:ext cx="15361920" cy="4907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Download the ISO</a:t>
            </a:r>
            <a:r>
              <a:rPr sz="2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from the official site, e.g. ubuntu.com, and verify its SHA256 checksum.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877056"/>
            <a:ext cx="777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3664" y="3931920"/>
            <a:ext cx="15361920" cy="4907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Create boot media:</a:t>
            </a:r>
            <a:r>
              <a:rPr sz="2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write the ISO to a USB drive with Rufus or balenaEtcher, or attach it to a VM.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27448"/>
            <a:ext cx="777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4782312"/>
            <a:ext cx="15361920" cy="4907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Boot and install:</a:t>
            </a:r>
            <a:r>
              <a:rPr sz="2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choose language, keyboard, disk partitioning, time zone, then create your user.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577840"/>
            <a:ext cx="777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83664" y="5632703"/>
            <a:ext cx="15361920" cy="4907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First steps:</a:t>
            </a:r>
            <a:r>
              <a:rPr sz="2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reboot, then run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apt update &amp;&amp; sudo apt upgrade</a:t>
            </a:r>
            <a:r>
              <a:rPr sz="2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to install the latest updates.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Linux vs Unix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94560"/>
            <a:ext cx="16184880" cy="853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Linux is </a:t>
            </a:r>
            <a:r>
              <a:rPr sz="25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Unix-like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: it follows Unix design ideas and POSIX standards but shares no original Unix code.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51560" y="3276599"/>
          <a:ext cx="16194022" cy="4297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57768"/>
                <a:gridCol w="6668127"/>
                <a:gridCol w="6668127"/>
              </a:tblGrid>
              <a:tr h="64008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Aspect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Linux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Unix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111"/>
                          </a:solidFill>
                          <a:latin typeface="Calibri"/>
                        </a:rPr>
                        <a:t>Origin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Linus Torvalds, 1991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AT&amp;T Bell Labs, 1969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111"/>
                          </a:solidFill>
                          <a:latin typeface="Calibri"/>
                        </a:rPr>
                        <a:t>Licence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Free and open source (GPL)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Mostly proprietary (AIX, HP-UX, Solaris)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111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Free to download and use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Usually licensed with vendor hardware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111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Runs on almost any CPU architecture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Tied to specific vendor hardware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111"/>
                          </a:solidFill>
                          <a:latin typeface="Calibri"/>
                        </a:rPr>
                        <a:t>Shell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bash by default (zsh, fish available)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sh, ksh or csh by default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111"/>
                          </a:solidFill>
                          <a:latin typeface="Calibri"/>
                        </a:rPr>
                        <a:t>Examples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Ubuntu, Fedora, Debian, RHEL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AIX, HP-UX, Solaris; macOS is Unix-certified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3108960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7048" y="4654296"/>
            <a:ext cx="14228064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2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 Linux, everything is a file — documents, directories, devices and even running processes.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" y="6254496"/>
            <a:ext cx="14630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Core Unix design principle inherited by Linux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10E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6576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 i="0" spc="300">
                <a:solidFill>
                  <a:srgbClr val="F2C9D2"/>
                </a:solidFill>
                <a:latin typeface="Arial Black"/>
                <a:ea typeface="Arial Black"/>
                <a:cs typeface="Arial Black"/>
              </a:rPr>
              <a:t>PART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379976"/>
            <a:ext cx="136245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6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The Linux File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5632704"/>
            <a:ext cx="2093976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5952744"/>
            <a:ext cx="941832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Structure, file types, paths and navigation</a:t>
            </a:r>
          </a:p>
        </p:txBody>
      </p:sp>
      <p:pic>
        <p:nvPicPr>
          <p:cNvPr id="6" name="Picture 5" descr="lap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9688" y="6217920"/>
            <a:ext cx="6894576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File System and File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94560"/>
            <a:ext cx="16184880" cy="853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Linux has one tree starting at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 Common disk formats are ext4, XFS and Btrfs. The first character of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ls -l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shows the file type.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51560" y="3276599"/>
          <a:ext cx="16194023" cy="49072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60925"/>
                <a:gridCol w="7266549"/>
                <a:gridCol w="7266549"/>
              </a:tblGrid>
              <a:tr h="64008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Symbol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File type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Example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-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Regular file (text, binary, image)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0" b="1">
                          <a:solidFill>
                            <a:srgbClr val="111111"/>
                          </a:solidFill>
                          <a:latin typeface="Courier New"/>
                        </a:rPr>
                        <a:t>/etc/hostname</a:t>
                      </a:r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, </a:t>
                      </a:r>
                      <a:r>
                        <a:rPr sz="2020" b="1">
                          <a:solidFill>
                            <a:srgbClr val="111111"/>
                          </a:solidFill>
                          <a:latin typeface="Courier New"/>
                        </a:rPr>
                        <a:t>/usr/bin/ls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d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Directory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0" b="1">
                          <a:solidFill>
                            <a:srgbClr val="111111"/>
                          </a:solidFill>
                          <a:latin typeface="Courier New"/>
                        </a:rPr>
                        <a:t>/home</a:t>
                      </a:r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, </a:t>
                      </a:r>
                      <a:r>
                        <a:rPr sz="2020" b="1">
                          <a:solidFill>
                            <a:srgbClr val="111111"/>
                          </a:solidFill>
                          <a:latin typeface="Courier New"/>
                        </a:rPr>
                        <a:t>/var/log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l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Symbolic link (shortcut)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0" b="1">
                          <a:solidFill>
                            <a:srgbClr val="111111"/>
                          </a:solidFill>
                          <a:latin typeface="Courier New"/>
                        </a:rPr>
                        <a:t>/bin</a:t>
                      </a:r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 → </a:t>
                      </a:r>
                      <a:r>
                        <a:rPr sz="2020" b="1">
                          <a:solidFill>
                            <a:srgbClr val="111111"/>
                          </a:solidFill>
                          <a:latin typeface="Courier New"/>
                        </a:rPr>
                        <a:t>usr/bin</a:t>
                      </a:r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 on modern distros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c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Character device (byte stream)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0" b="1">
                          <a:solidFill>
                            <a:srgbClr val="111111"/>
                          </a:solidFill>
                          <a:latin typeface="Courier New"/>
                        </a:rPr>
                        <a:t>/dev/tty</a:t>
                      </a:r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, </a:t>
                      </a:r>
                      <a:r>
                        <a:rPr sz="2020" b="1">
                          <a:solidFill>
                            <a:srgbClr val="111111"/>
                          </a:solidFill>
                          <a:latin typeface="Courier New"/>
                        </a:rPr>
                        <a:t>/dev/null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b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Block device (storage)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0" b="1">
                          <a:solidFill>
                            <a:srgbClr val="111111"/>
                          </a:solidFill>
                          <a:latin typeface="Courier New"/>
                        </a:rPr>
                        <a:t>/dev/sda</a:t>
                      </a:r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, </a:t>
                      </a:r>
                      <a:r>
                        <a:rPr sz="2020" b="1">
                          <a:solidFill>
                            <a:srgbClr val="111111"/>
                          </a:solidFill>
                          <a:latin typeface="Courier New"/>
                        </a:rPr>
                        <a:t>/dev/nvme0n1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s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Socket (process communication)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0" b="1">
                          <a:solidFill>
                            <a:srgbClr val="111111"/>
                          </a:solidFill>
                          <a:latin typeface="Courier New"/>
                        </a:rPr>
                        <a:t>/run/systemd/notify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p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Named pipe (FIFO)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created with </a:t>
                      </a:r>
                      <a:r>
                        <a:rPr sz="2020" b="1">
                          <a:solidFill>
                            <a:srgbClr val="111111"/>
                          </a:solidFill>
                          <a:latin typeface="Courier New"/>
                        </a:rPr>
                        <a:t>mkfifo mypipe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File Hierarchy Structure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31136"/>
            <a:ext cx="16184880" cy="472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The </a:t>
            </a:r>
            <a:r>
              <a:rPr sz="25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Filesystem Hierarchy Standard (FHS)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defines where things live, so every distro feels familiar.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3069336"/>
            <a:ext cx="54864" cy="154393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08176" y="3051048"/>
            <a:ext cx="4767072" cy="4108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3544188"/>
            <a:ext cx="4767072" cy="11148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Root of the whole tree. Every file and device sits below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6728" y="3069336"/>
            <a:ext cx="54864" cy="154393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3344" y="3051048"/>
            <a:ext cx="4767072" cy="4108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/bin  ·  /sbin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3344" y="3544188"/>
            <a:ext cx="4767072" cy="11148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Essential user commands (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ls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cp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) and system binaries (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fdisk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reboot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21896" y="3069336"/>
            <a:ext cx="54864" cy="154393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78512" y="3051048"/>
            <a:ext cx="4767072" cy="4108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/etc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78512" y="3544188"/>
            <a:ext cx="4767072" cy="11148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System-wide configuration files such as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/etc/passwd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/etc/hosts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5161915"/>
            <a:ext cx="54864" cy="1187576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08176" y="5143627"/>
            <a:ext cx="4767072" cy="4108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/home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5636768"/>
            <a:ext cx="4767072" cy="7584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Personal directories for each user, e.g.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/home/ali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6728" y="5161915"/>
            <a:ext cx="54864" cy="1187576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3344" y="5143627"/>
            <a:ext cx="4767072" cy="4108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/root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3344" y="5636768"/>
            <a:ext cx="4767072" cy="7584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Home directory of the root (administrator) user.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21896" y="5161915"/>
            <a:ext cx="54864" cy="1187576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78512" y="5143627"/>
            <a:ext cx="4767072" cy="4108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/boot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78512" y="5636768"/>
            <a:ext cx="4767072" cy="7584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Kernel images, initramfs and the GRUB bootloader files.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File Hierarchy Structure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" y="2231136"/>
            <a:ext cx="54864" cy="154393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08176" y="2212848"/>
            <a:ext cx="4767072" cy="4108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/var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2705989"/>
            <a:ext cx="4767072" cy="11148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Variable data that grows: logs in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/var/log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, mail, caches, databases.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6728" y="2231136"/>
            <a:ext cx="54864" cy="154393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3344" y="2212848"/>
            <a:ext cx="4767072" cy="4108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/tmp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3344" y="2705989"/>
            <a:ext cx="4767072" cy="11148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Temporary files, often cleared at reboot. Writable by every user.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1896" y="2231136"/>
            <a:ext cx="54864" cy="154393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78512" y="2212848"/>
            <a:ext cx="4767072" cy="4108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/usr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78512" y="2705989"/>
            <a:ext cx="4767072" cy="11148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Installed software, libraries and documentation (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/usr/bin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/usr/lib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4323715"/>
            <a:ext cx="54864" cy="154393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8176" y="4305427"/>
            <a:ext cx="4767072" cy="4108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/opt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4798568"/>
            <a:ext cx="4767072" cy="11148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Optional third-party software packages, e.g. </a:t>
            </a:r>
            <a:r>
              <a:rPr sz="212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/opt/google</a:t>
            </a: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6728" y="4323715"/>
            <a:ext cx="54864" cy="154393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3344" y="4305427"/>
            <a:ext cx="4767072" cy="4108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/dev  ·  /proc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3344" y="4798568"/>
            <a:ext cx="4767072" cy="11148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Device files, and a virtual view of running processes and kernel data.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121896" y="4323715"/>
            <a:ext cx="54864" cy="154393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478512" y="4305427"/>
            <a:ext cx="4767072" cy="4108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/mnt  ·  /media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78512" y="4798568"/>
            <a:ext cx="4767072" cy="11148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Mount points for temporary filesystems and removable media like USB drives.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Directory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7178040" cy="681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See the tree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tree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draws directories as a tree. Install it with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apt install tree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Limit the depth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Use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-L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to stay readable, and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-d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to show directories only.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Check disk layout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lsblk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shows disks and partitions;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df -h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shows where each one is mounted.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2194560"/>
            <a:ext cx="8513064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spc="30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TERMINAL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732520" y="2697480"/>
            <a:ext cx="8513064" cy="448055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2898648"/>
            <a:ext cx="8101584" cy="420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tree -L 1 /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├── bin -&gt; usr/bin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├── boot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├── dev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├── etc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├── home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├── var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└── usr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tree -d -L 2 /home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lsblk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df -h /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File System Navigation Commands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7178040" cy="681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Where am I?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pwd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prints the current working directory.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What is here?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ls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lists contents. Add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-l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for details,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-a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for hidden dot-files,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-h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for readable sizes.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Move around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cd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changes directory.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~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is your home,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..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the parent,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the previous directory.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2194560"/>
            <a:ext cx="8513064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spc="30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TERMINAL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732520" y="2697480"/>
            <a:ext cx="8513064" cy="3474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2898648"/>
            <a:ext cx="8101584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pwd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/home/student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ls -lah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cd /var/log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go to an absolute path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cd ..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up one level to /var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cd -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back to /var/log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cd ~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home directory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cd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also goes home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file /etc/hostname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detect 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Absolute and Relative Pathnames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31136"/>
            <a:ext cx="16184880" cy="853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Rule of thumb: if a path begins with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, it is absolute. Use absolute paths in scripts; use relative paths to save typing.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3450336"/>
            <a:ext cx="54864" cy="129336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08176" y="3432048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Absolute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3969004"/>
            <a:ext cx="7534656" cy="820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Starts at the root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and works from anywhere. Example: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/home/student/docs/notes.txt</a:t>
            </a:r>
          </a:p>
        </p:txBody>
      </p:sp>
      <p:sp>
        <p:nvSpPr>
          <p:cNvPr id="8" name="Rectangle 7"/>
          <p:cNvSpPr/>
          <p:nvPr/>
        </p:nvSpPr>
        <p:spPr>
          <a:xfrm>
            <a:off x="9354312" y="3450336"/>
            <a:ext cx="54864" cy="129336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0928" y="3432048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Relative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0928" y="3969004"/>
            <a:ext cx="7534656" cy="820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Starts from your current directory. From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/home/student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docs/notes.txt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5292344"/>
            <a:ext cx="54864" cy="129336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8176" y="5274056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.  and  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5811012"/>
            <a:ext cx="7534656" cy="820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means the current directory and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..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means the parent. Example: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../shared/report.txt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54312" y="5292344"/>
            <a:ext cx="54864" cy="129336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10928" y="5274056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~  shortcut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0928" y="5811012"/>
            <a:ext cx="7534656" cy="820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~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expands to your home directory, so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~/docs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equals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/home/student/docs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16752" cy="10287000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544982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0" i="0" spc="300">
                <a:solidFill>
                  <a:srgbClr val="F2C9D2"/>
                </a:solidFill>
                <a:latin typeface="Arial Black"/>
                <a:ea typeface="Arial Black"/>
                <a:cs typeface="Arial Black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35608"/>
            <a:ext cx="5120640" cy="3291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2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File System Explorer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183879"/>
            <a:ext cx="5449824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300" b="0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326880"/>
            <a:ext cx="544982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0" i="0">
                <a:solidFill>
                  <a:srgbClr val="F2C9D2"/>
                </a:solidFill>
                <a:latin typeface="Calibri"/>
                <a:ea typeface="Calibri"/>
                <a:cs typeface="Calibri"/>
              </a:rPr>
              <a:t>minutes · individual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31152" y="82296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2672" y="841248"/>
            <a:ext cx="9582912" cy="4527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Run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pwd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then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ls -la ~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and identify every hidden file.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31152" y="162763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2" y="1645920"/>
            <a:ext cx="9582912" cy="8323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Visit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/etc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/var/log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/dev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/proc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Note one interesting file in each.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280746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825750"/>
            <a:ext cx="9582912" cy="8323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Use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ls -l /dev | head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and name three file types from the first character.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398729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2" y="4005580"/>
            <a:ext cx="9582912" cy="8323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Run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cat /proc/cpuinfo | head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uname -r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Record your CPU model and kernel version.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1152" y="516712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5185410"/>
            <a:ext cx="9582912" cy="8323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Deliverable: a short table of 6 directories, their purpose, and one file found in each.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31152" y="9235440"/>
            <a:ext cx="10314432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9491472"/>
            <a:ext cx="923544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19872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16752" cy="10287000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544982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0" i="0" spc="300">
                <a:solidFill>
                  <a:srgbClr val="F2C9D2"/>
                </a:solidFill>
                <a:latin typeface="Arial Black"/>
                <a:ea typeface="Arial Black"/>
                <a:cs typeface="Arial Black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35608"/>
            <a:ext cx="5120640" cy="3291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2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Path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183879"/>
            <a:ext cx="5449824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300" b="0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326880"/>
            <a:ext cx="544982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0" i="0">
                <a:solidFill>
                  <a:srgbClr val="F2C9D2"/>
                </a:solidFill>
                <a:latin typeface="Calibri"/>
                <a:ea typeface="Calibri"/>
                <a:cs typeface="Calibri"/>
              </a:rPr>
              <a:t>minutes ·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31152" y="82296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2672" y="841248"/>
            <a:ext cx="9582912" cy="8323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Create a practice tree: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mkdir -p ~/lab1/{docs,code/python,backup}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31152" y="200279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2" y="2021078"/>
            <a:ext cx="9582912" cy="8323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From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~/lab1/code/python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reach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~/lab1/docs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using a relative path only.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318262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3200908"/>
            <a:ext cx="9582912" cy="8323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Repeat the move using an absolute path. Check where you are with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pwd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436245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2" y="4380738"/>
            <a:ext cx="9582912" cy="4527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Use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cd -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cd ~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and explain what each one did.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1152" y="516712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5185410"/>
            <a:ext cx="9582912" cy="4527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Run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tree ~/lab1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and screenshot the result for your lab log.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31152" y="9235440"/>
            <a:ext cx="10314432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9491472"/>
            <a:ext cx="923544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19872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Session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" y="2231136"/>
            <a:ext cx="54864" cy="129336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08176" y="2212848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Linux is a layered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2749804"/>
            <a:ext cx="7534656" cy="820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Hardware, kernel, shell and applications, linked by system calls.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354312" y="2231136"/>
            <a:ext cx="54864" cy="129336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928" y="2212848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Distros share one kernel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0928" y="2749804"/>
            <a:ext cx="7534656" cy="820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They differ in package manager, release cycle and target use.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4073144"/>
            <a:ext cx="54864" cy="129336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8176" y="4054856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One tree from 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4591812"/>
            <a:ext cx="7534656" cy="820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The FHS gives every directory a defined job: /etc, /var, /home and more.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54312" y="4073144"/>
            <a:ext cx="54864" cy="129336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0928" y="4054856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Paths and navigation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0928" y="4591812"/>
            <a:ext cx="7534656" cy="820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Absolute paths start at /; relative paths start where you are.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Reading and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48840"/>
            <a:ext cx="16184880" cy="6949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  <a:buClr>
                <a:srgbClr val="A10E2F"/>
              </a:buClr>
              <a:buFont typeface="Arial"/>
              <a:buChar char="•"/>
            </a:pP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Shotts, W. (2019) </a:t>
            </a:r>
            <a:r>
              <a:rPr sz="2300" b="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The Linux Command Line</a:t>
            </a: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2nd edn. San Francisco, CA: No Starch Press. Free edition: https://linuxcommand.org/tlcl.php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  <a:buClr>
                <a:srgbClr val="A10E2F"/>
              </a:buClr>
              <a:buFont typeface="Arial"/>
              <a:buChar char="•"/>
            </a:pP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Nemeth, E. et al. (2017) </a:t>
            </a:r>
            <a:r>
              <a:rPr sz="2300" b="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UNIX and Linux System Administration Handbook</a:t>
            </a: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5th edn. Boston, MA: Addison-Wesley.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  <a:buClr>
                <a:srgbClr val="A10E2F"/>
              </a:buClr>
              <a:buFont typeface="Arial"/>
              <a:buChar char="•"/>
            </a:pP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Ward, B. (2021) </a:t>
            </a:r>
            <a:r>
              <a:rPr sz="2300" b="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How Linux Works</a:t>
            </a: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3rd edn. San Francisco, CA: No Starch Press.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  <a:buClr>
                <a:srgbClr val="A10E2F"/>
              </a:buClr>
              <a:buFont typeface="Arial"/>
              <a:buChar char="•"/>
            </a:pP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Linux Foundation (2015) </a:t>
            </a:r>
            <a:r>
              <a:rPr sz="2300" b="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Filesystem Hierarchy Standard 3.0</a:t>
            </a: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Available at: https://refspecs.linuxfoundation.org/fhs.shtml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  <a:buClr>
                <a:srgbClr val="A10E2F"/>
              </a:buClr>
              <a:buFont typeface="Arial"/>
              <a:buChar char="•"/>
            </a:pP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Ubuntu (2024) </a:t>
            </a:r>
            <a:r>
              <a:rPr sz="2300" b="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Install Ubuntu Desktop</a:t>
            </a: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tutorial. Available at: https://ubuntu.com/tutorials/install-ubuntu-desktop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" y="914400"/>
            <a:ext cx="1719072" cy="91440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566160"/>
            <a:ext cx="1554480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4837176"/>
            <a:ext cx="15544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 i="0">
                <a:solidFill>
                  <a:srgbClr val="DCDCDC"/>
                </a:solidFill>
                <a:latin typeface="Calibri"/>
                <a:ea typeface="Calibri"/>
                <a:cs typeface="Calibri"/>
              </a:rPr>
              <a:t>Week 1 · Linux Basics and the File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541264"/>
            <a:ext cx="15544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 i="0">
                <a:solidFill>
                  <a:srgbClr val="DCDCDC"/>
                </a:solidFill>
                <a:latin typeface="Calibri"/>
                <a:ea typeface="Calibri"/>
                <a:cs typeface="Calibri"/>
              </a:rPr>
              <a:t>Muhammad Abdullah Niazi · m.niazi@dmuk.edu.kz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8494776"/>
            <a:ext cx="2112264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292" y="8592616"/>
            <a:ext cx="1828800" cy="7552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702</Words>
  <Application>Microsoft Office PowerPoint</Application>
  <PresentationFormat>Custom</PresentationFormat>
  <Paragraphs>109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Black</vt:lpstr>
      <vt:lpstr>Calibri</vt:lpstr>
      <vt:lpstr>Segoe UI Symbol</vt:lpstr>
      <vt:lpstr>Times New Roman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Abdullah Niazi</cp:lastModifiedBy>
  <cp:revision>49</cp:revision>
  <dcterms:created xsi:type="dcterms:W3CDTF">2026-09-09T12:33:21Z</dcterms:created>
  <dcterms:modified xsi:type="dcterms:W3CDTF">2026-09-24T10:25:38Z</dcterms:modified>
</cp:coreProperties>
</file>
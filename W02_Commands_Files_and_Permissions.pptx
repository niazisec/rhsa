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  <p:sldId id="264" r:id="rId4"/>
    <p:sldId id="265" r:id="rId3"/>
    <p:sldId id="266" r:id="rId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27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559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m.niazi@dmuk.edu.kz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14400"/>
            <a:ext cx="2212848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346704"/>
            <a:ext cx="1554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LSA · LINUX SYSTEM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023360"/>
            <a:ext cx="14996159" cy="2139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00" b="0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Linux Commands, File Management and Permissions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6483096"/>
            <a:ext cx="1719072" cy="9144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6784848"/>
            <a:ext cx="1554480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Muhammad Abdullah Niazi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Email: </a:t>
            </a: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  <a:hlinkClick r:id="rId3"/>
              </a:rPr>
              <a:t>m.niazi@dmuk.edu.kz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Week 2 </a:t>
            </a:r>
            <a:r>
              <a:rPr sz="255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· Lecture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76272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3664" y="2231136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What are the four layers of the Linux architecture?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26664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3081528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Name two distribution families and the package tool each one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77056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3931920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Which directory holds system configuration files, and which holds logs?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27448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4782312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What is the difference between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/home/student/docs</a:t>
            </a: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docs</a:t>
            </a: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577840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3664" y="5632703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What does the first character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</a:t>
            </a: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 mean in the output of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</a:t>
            </a: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76272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3664" y="2231136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 essential terminal commands to navigate, inspect and search the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26664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3081528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Create, copy, move and delete files and directories safely.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77056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3931920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Read Linux permission strings and calculate octal permission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27448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4782312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Change permissions with </a:t>
            </a:r>
            <a:r>
              <a:rPr sz="23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</a:t>
            </a: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ownership with </a:t>
            </a:r>
            <a:r>
              <a:rPr sz="23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chown</a:t>
            </a: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Session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7680960" cy="6766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Anatomy of a command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Basic commands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Complete command reference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Pipes and redirection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240280"/>
            <a:ext cx="7680960" cy="6766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File management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Directory management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Permissions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Changing permissions using chmod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Changing ownership using chown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0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657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379976"/>
            <a:ext cx="1275588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Linux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5632704"/>
            <a:ext cx="2093976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5952744"/>
            <a:ext cx="9418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Essential terminal commands for everyday administration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Anatomy of a 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Structure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command  -options  arguments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— e.g.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 /etc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runs ls, with long format, on /etc.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Get help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man ls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opens the manual.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--help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gives a quick summary. Press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q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to quit.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Work faster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Press </a:t>
            </a: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Tab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to auto-complete, </a:t>
            </a: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↑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to recall history, </a:t>
            </a: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Ctrl+C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to stop a command.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2804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529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 /etc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man ls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full manual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--help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quick help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whatis cp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one-line summary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history | tail -5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!!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repeat last command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clear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or Ctrl+L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Basic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194560"/>
          <a:ext cx="16194022" cy="5516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38804"/>
                <a:gridCol w="6477609"/>
                <a:gridCol w="6477609"/>
              </a:tblGrid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Command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Purpose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Example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echo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Print text or a variable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echo "Hello $USER"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cat · less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Show a file / scroll through it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less /var/log/syslog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head · tail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First or last lines of a file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tail -f /var/log/syslog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touch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Create an empty file or update its time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touch notes.txt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cp · mv · rm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Copy, move/rename, remove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cp a.txt b.txt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mkdir · rmdir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Make / remove a directory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mkdir projects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whoami · date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Current user / date and time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date +%F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uname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Kernel and system information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uname -a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Complete Commands: A Reference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31136"/>
            <a:ext cx="16184880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You do not memorise every command — you learn the families and use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man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the details.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069336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8176" y="30510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Files &amp; directories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3544188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pwd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cp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mv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mkdir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touch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ln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stat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6728" y="3069336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3344" y="30510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Viewing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3344" y="3544188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cat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less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head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tail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wc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sort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uniq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cut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21896" y="3069336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78512" y="30510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Searching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8512" y="3544188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find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locate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grep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which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whereis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4805553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8176" y="4787265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System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5280405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uname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hostname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uptime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free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df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du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lscpu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lsblk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6728" y="4805553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3344" y="4787265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Processes &amp;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3344" y="5280405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ps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top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kill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who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id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1896" y="4805553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78512" y="4787265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Network &amp;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8512" y="5280405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ip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ping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ssh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curl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wget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man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--help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tldr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Pipes and Redirection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Pipe |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Sends the output of one command into the next, like a production line.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Redirect &gt; and &gt;&gt;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&gt;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writes output to a file (overwrites);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&gt;&gt;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appends to it.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Errors 2&gt;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Sends error messages elsewhere, e.g.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2&gt;/dev/null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discards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2804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529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/etc | wc -l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count entries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grep -i error /var/log/syslog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ps aux | grep ssh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cat /etc/passwd | cut -d: -f1 | sort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 &gt; list.txt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overwrite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date &gt;&gt; list.txt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append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find / -name '*.conf' 2&gt;/dev/null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0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017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739896"/>
            <a:ext cx="1362456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File Management and Permissions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5925312"/>
            <a:ext cx="2093976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6245351"/>
            <a:ext cx="9418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Working safely with files, directories and access rights</a:t>
            </a:r>
          </a:p>
        </p:txBody>
      </p:sp>
      <p:pic>
        <p:nvPicPr>
          <p:cNvPr id="6" name="Picture 5" descr="lap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688" y="6217920"/>
            <a:ext cx="6894576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File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Create and copy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touch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creates files.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cp -r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copies directories, and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cp -i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asks before overwriting.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Move and rename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mv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both moves and renames — there is no separate rename command.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Delete with care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has no recycle bin. Use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 -i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while learning.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Find files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find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searches by name, size, type or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139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865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touch report.txt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cp report.txt report.bak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mv report.txt final.txt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rename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mv final.txt ~/docs/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move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 -i report.bak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ln -s /var/log/syslog sys.log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stat final.txt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size, times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find ~ -name '*.txt' -size +1k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Directory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Create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mkdir -p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builds a whole path at once and does not complain if it exists.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Remove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rmdir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only removes empty directories.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 -r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removes a directory and everything inside.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Measure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du -sh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shows how much space a directory 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139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865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mkdir projects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mkdir -p web/{css,js,img}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cp -r web web_backup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mv web_backup archive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rmdir emptydir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 -r archive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careful!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du -sh ~/projects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tree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Permissions: Reading -rwxr-x---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94560"/>
            <a:ext cx="16184880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Every file has an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owner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a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group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three permission sets. See them with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2895600"/>
          <a:ext cx="16194022" cy="3078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08561"/>
                <a:gridCol w="2761771"/>
                <a:gridCol w="3263911"/>
                <a:gridCol w="8159779"/>
              </a:tblGrid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Position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Characters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Applies to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Meaning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-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File type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-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 regular file,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d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 directory,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l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 link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2–4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rwx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Owner (u)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Owner can read, write and execute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5–7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r-x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Group (g)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Group members can read and execute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8–10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---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Others (o)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Everyone else has no access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Permission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94560"/>
            <a:ext cx="16184880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Add the values for each set: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rwx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= 4+2+1 =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r-x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= 4+0+1 =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r--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=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 So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rwxr-xr--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=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754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2895600"/>
          <a:ext cx="16194021" cy="3078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37018"/>
                <a:gridCol w="1824678"/>
                <a:gridCol w="1596593"/>
                <a:gridCol w="4789781"/>
                <a:gridCol w="5245951"/>
              </a:tblGrid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Permission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Letter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Value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On a file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On a directory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r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View the contents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List the files inside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w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Change the contents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Create or delete files inside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Execute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x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Run it as a program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Enter it with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cd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-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No access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No access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Changing Permissions using chmod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Numeric mode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Three digits for owner, group and others: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755 script.sh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Symbolic mode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Who (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 g o a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), action (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+ - =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), permission (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 w x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).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Common values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755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scripts and folders ·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644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normal files ·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600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private keys.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474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755 deploy.sh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644 index.html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600 ~/.ssh/id_ed25519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u+x run.sh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owner can run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go-w notes.txt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remove write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a=r readme.txt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read-only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-R 750 /srv/project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 deploy.sh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-rwxr-xr-x 1 ali dev 210 deploy.sh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Changing Ownership using chown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chown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Changes the owner, and optionally the group, of a file. Usually needs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chgrp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Changes only the group.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Recursive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-R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applies the change to a directory and everything inside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139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865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chown ali report.txt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chown ali:developers app.py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chown :developers app.py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chgrp www-data /var/www/site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chown -R www-data:www-data \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/var/www/html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 app.py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-rw-r--r-- 1 ali developers app.py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16752" cy="102870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35608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Command Scavenger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83879"/>
            <a:ext cx="54498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300" b="0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0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F2C9D2"/>
                </a:solidFill>
                <a:latin typeface="Calibri"/>
                <a:ea typeface="Calibri"/>
                <a:cs typeface="Calibri"/>
              </a:rPr>
              <a:t>minutes ·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1152" y="8229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841248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Count the lines in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/etc/passwd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using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wc -l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152" y="16276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645920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only the usernames: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cut -d: -f1 /etc/passwd | sort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243230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450592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Find every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.conf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file in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/etc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save the list to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confs.txt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3236976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255264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grep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to find which line of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/etc/passwd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mentions your username.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4416806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435094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the last 5 lines of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/var/log/syslog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(or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journalctl -n 5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1152" y="9235440"/>
            <a:ext cx="10314432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9491472"/>
            <a:ext cx="923544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19872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16752" cy="102870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35608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Permissions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83879"/>
            <a:ext cx="54498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300" b="0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0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F2C9D2"/>
                </a:solidFill>
                <a:latin typeface="Calibri"/>
                <a:ea typeface="Calibri"/>
                <a:cs typeface="Calibri"/>
              </a:rPr>
              <a:t>minutes ·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1152" y="8229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841248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Create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~/lab2/{public,private,scripts}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a file in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152" y="16276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645920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Make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private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accessible only to you: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700 ~/lab2/private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280746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825750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Create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hello.sh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echo Hello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then try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./hello.sh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— note the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398729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005580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Fix it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u+x hello.sh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run it again.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479196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810252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Set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public/info.txt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to 644 and explain who can read and write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597179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5990082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Deliverable: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-lR ~/lab2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output with every permission string explained.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1152" y="9235440"/>
            <a:ext cx="10314432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9491472"/>
            <a:ext cx="923544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19872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Session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22311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8176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Commands follow one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7498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command, options, arguments. Use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man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--help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details.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4312" y="22311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Pipes build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928" y="27498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Chain small commands with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|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save output with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&gt;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or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&gt;&gt;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731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40548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Manage files safely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45918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cp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mv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 -i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mkdir -p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find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cover daily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4312" y="40731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40548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Permissions protect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45918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rwx for owner, group and others; set with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own with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chown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Reading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16184880" cy="6949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Shotts, W. (2019)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Linux Command Line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2nd edn. San Francisco, CA: No Starch Press. Free edition: https://linuxcommand.org/tlcl.php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Nemeth, E. et al. (2017)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UNIX and Linux System Administration Handbook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5th edn. Boston, MA: Addison-Wesley.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Ward, B. (2021)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How Linux Works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3rd edn. San Francisco, CA: No Starch Press.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Barrett, D.J. (2022)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Efficient Linux at the Command Line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Sebastopol, CA: O’Reilly Media.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Linux man-pages project.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chmod(1)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chown(1)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find(1)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Available at: https://man7.org/linux/man-pages/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" y="914400"/>
            <a:ext cx="1719072" cy="9144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566160"/>
            <a:ext cx="155448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837176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DCDCDC"/>
                </a:solidFill>
                <a:latin typeface="Calibri"/>
                <a:ea typeface="Calibri"/>
                <a:cs typeface="Calibri"/>
              </a:rPr>
              <a:t>Week 2 · Linux Commands, File Management and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541264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DCDCDC"/>
                </a:solidFill>
                <a:latin typeface="Calibri"/>
                <a:ea typeface="Calibri"/>
                <a:cs typeface="Calibri"/>
              </a:rPr>
              <a:t>Muhammad Abdullah Niazi · m.niazi@dmuk.edu.kz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8494776"/>
            <a:ext cx="2112264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92" y="8592616"/>
            <a:ext cx="1828800" cy="7552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702</Words>
  <Application>Microsoft Office PowerPoint</Application>
  <PresentationFormat>Custom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Segoe UI 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Abdullah Niazi</cp:lastModifiedBy>
  <cp:revision>49</cp:revision>
  <dcterms:created xsi:type="dcterms:W3CDTF">2026-09-09T12:33:21Z</dcterms:created>
  <dcterms:modified xsi:type="dcterms:W3CDTF">2026-09-24T10:25:38Z</dcterms:modified>
</cp:coreProperties>
</file>